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My project is a web-based Social Network Analysis system that maps student friendship networks at UTAS and turns that structure into practical guidance for student political campaign planning. I will walk through the problem, how I built the system, how I collected real data with Google Forms, and what the analysis of that data actually shows.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on the roadmap so the panel knows where we are going. Mention the live demo is available at the end if time permits.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in one sentence: student campaigns are planned blind. The friendship network that decides how influence spreads exists, but nothing measures it. That is the gap the system fills.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main objective, then note each specific objective maps to a part of the finished system -- and all four were met, which Chapter 5 of the thesis walks through.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per study. The common thread: network position predicts influence and engagement. The difference: every one of these worked on public social-media data or an existing dataset -- this project is an operational tool on primary, consented survey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unless asked. The panel cue: every algorithm named here is an established, peer-reviewed technique -- the contribution is applying them in one operational system for this specific campus problem.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survey and not scraping: platform terms of service forbid it, and consent matters when real students' relationships are being stored. Each response is one edge in the graph; the importer matches or creates both students and links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earns credibility -- real fieldwork is messy and the panel knows it. The phantom-student story lands well told plainly: someone politely declined to name a friend, and the system briefly believed that sentence was a person. It is fixed systematically, not by hand.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Entry point after login. Total students, connections, influencers, communities, average degree, and bridge nodes at a glance, with charts underneath. Role-based: a plain student account sees this read-only.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metric gets a card with a plain-language description of what it measures, a ranked chart of students, and an export button. Import and re-run controls live here for campaign managers and admins.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visual heart of the system. Node size is PageRank; the colour dropdown regroups the same graph by any shared attribute, so department clusters, hometown clusters, and religious communities are all visible in the one campus network. If demoing live, switch the colour mode here -- it is the strongest moment.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numbers, then hold for the next slide -- the interpretation is the interesting part. Note the religion figure quietly combines 'Muslim' and 'Islam' answers, one more example of the free-text cleaning story.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the method works, the data is thin. That honesty is defensible and expected. The system computed exactly what the data supports, flagged its own sparsity in the built-in expert advice, and the second campus-wide survey round is the designed answer to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decision-support layer -- the difference between a dashboard and a tool. The expert advisor is a classic knowledge-driven DSS: explicit rules over the computed metrics, so its advice is explainable to a non-technical organiser.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proof points: it is deployed (usable from any phone or laptop right now, no setup) and it is tested (57 automated tests run against every change). Offer the live demo here if the panel wants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limitations before the panel does. Each one has a designed answer: more data, a directed model, a recomputation pipeline, and the predictive layer Liu et al. demonstrated. Anonymisation is an ethics point worth raising yourself -- it shows awareness, not weakness.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with the opening: campaigns were planned blind; now there is a live tool that maps the network, measures influence, and hands organisers a named plan. Thank the supervisor and panel and invite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questions to be ready for: How is this different from a spreadsheet? (structural metrics are invisible in raw rows.) Is it your own work? (system, architecture, and application are mine; the algorithms are established peer-reviewed techniques.) Why so few connections? (coverage, not method -- and the campus-wide round is addressing it.) Ethics? (consented survey, no scraping, anonymisation flagged as next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011680"/>
            <a:ext cx="10058400" cy="3200400"/>
          </a:xfrm>
          <a:prstGeom prst="rect">
            <a:avLst/>
          </a:prstGeom>
          <a:noFill/>
        </p:spPr>
        <p:txBody>
          <a:bodyPr wrap="square">
            <a:spAutoFit/>
          </a:bodyPr>
          <a:lstStyle/>
          <a:p>
            <a:pPr>
              <a:defRPr sz="4400" b="1">
                <a:solidFill>
                  <a:srgbClr val="FFFFFF"/>
                </a:solidFill>
              </a:defRPr>
            </a:pPr>
            <a:r>
              <a:t>UTAS Social Network Analysis System</a:t>
            </a:r>
          </a:p>
          <a:p>
            <a:pPr>
              <a:spcBef>
                <a:spcPts val="1000"/>
              </a:spcBef>
              <a:defRPr sz="2200">
                <a:solidFill>
                  <a:srgbClr val="BFDBFE"/>
                </a:solidFill>
              </a:defRPr>
            </a:pPr>
            <a:r>
              <a:t>Social Network Analysis for Student Political Campaign Planning</a:t>
            </a:r>
          </a:p>
          <a:p>
            <a:pPr>
              <a:spcBef>
                <a:spcPts val="2800"/>
              </a:spcBef>
              <a:defRPr sz="1600">
                <a:solidFill>
                  <a:srgbClr val="93C5FD"/>
                </a:solidFill>
              </a:defRPr>
            </a:pPr>
            <a:r>
              <a:t>Hassan Benjamin  ·  Final Year Project Defense  ·  University of Technology and Applied Sciences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457200" tIns="164592"/>
          <a:lstStyle/>
          <a:p>
            <a:pPr algn="ctr">
              <a:defRPr sz="3000" b="1">
                <a:solidFill>
                  <a:srgbClr val="FFFFFF"/>
                </a:solidFill>
              </a:defRPr>
            </a:pPr>
            <a:r>
              <a:t>Presentation Outline</a:t>
            </a:r>
          </a:p>
        </p:txBody>
      </p:sp>
      <p:sp>
        <p:nvSpPr>
          <p:cNvPr id="3" name="TextBox 2"/>
          <p:cNvSpPr txBox="1"/>
          <p:nvPr/>
        </p:nvSpPr>
        <p:spPr>
          <a:xfrm>
            <a:off x="502920" y="1325880"/>
            <a:ext cx="11155680" cy="5120640"/>
          </a:xfrm>
          <a:prstGeom prst="rect">
            <a:avLst/>
          </a:prstGeom>
          <a:noFill/>
        </p:spPr>
        <p:txBody>
          <a:bodyPr wrap="square">
            <a:spAutoFit/>
          </a:bodyPr>
          <a:lstStyle/>
          <a:p>
            <a:pPr>
              <a:spcAft>
                <a:spcPts val="1400"/>
              </a:spcAft>
            </a:pPr>
            <a:r>
              <a:rPr sz="1900">
                <a:solidFill>
                  <a:srgbClr val="111827"/>
                </a:solidFill>
              </a:rPr>
              <a:t>The problem and objectives</a:t>
            </a:r>
          </a:p>
          <a:p>
            <a:pPr>
              <a:spcAft>
                <a:spcPts val="1400"/>
              </a:spcAft>
            </a:pPr>
            <a:r>
              <a:rPr sz="1900">
                <a:solidFill>
                  <a:srgbClr val="111827"/>
                </a:solidFill>
              </a:rPr>
              <a:t>Related work the project builds on</a:t>
            </a:r>
          </a:p>
          <a:p>
            <a:pPr>
              <a:spcAft>
                <a:spcPts val="1400"/>
              </a:spcAft>
            </a:pPr>
            <a:r>
              <a:rPr sz="1900">
                <a:solidFill>
                  <a:srgbClr val="111827"/>
                </a:solidFill>
              </a:rPr>
              <a:t>Methodology and technology stack</a:t>
            </a:r>
          </a:p>
          <a:p>
            <a:pPr>
              <a:spcAft>
                <a:spcPts val="1400"/>
              </a:spcAft>
            </a:pPr>
            <a:r>
              <a:rPr sz="1900">
                <a:solidFill>
                  <a:srgbClr val="111827"/>
                </a:solidFill>
              </a:rPr>
              <a:t>Data collection through Google Forms</a:t>
            </a:r>
          </a:p>
          <a:p>
            <a:pPr>
              <a:spcAft>
                <a:spcPts val="1400"/>
              </a:spcAft>
            </a:pPr>
            <a:r>
              <a:rPr sz="1900">
                <a:solidFill>
                  <a:srgbClr val="111827"/>
                </a:solidFill>
              </a:rPr>
              <a:t>Cleaning real survey data</a:t>
            </a:r>
          </a:p>
          <a:p>
            <a:pPr>
              <a:spcAft>
                <a:spcPts val="1400"/>
              </a:spcAft>
            </a:pPr>
            <a:r>
              <a:rPr sz="1900">
                <a:solidFill>
                  <a:srgbClr val="111827"/>
                </a:solidFill>
              </a:rPr>
              <a:t>The system: walkthrough and live deployment</a:t>
            </a:r>
          </a:p>
          <a:p>
            <a:pPr>
              <a:spcAft>
                <a:spcPts val="1400"/>
              </a:spcAft>
            </a:pPr>
            <a:r>
              <a:rPr sz="1900">
                <a:solidFill>
                  <a:srgbClr val="111827"/>
                </a:solidFill>
              </a:rPr>
              <a:t>Results of the analysis and what they mean</a:t>
            </a:r>
          </a:p>
          <a:p>
            <a:pPr>
              <a:spcAft>
                <a:spcPts val="1400"/>
              </a:spcAft>
            </a:pPr>
            <a:r>
              <a:rPr sz="1900">
                <a:solidFill>
                  <a:srgbClr val="111827"/>
                </a:solidFill>
              </a:rPr>
              <a:t>Limitations, future work, and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457200" tIns="164592"/>
          <a:lstStyle/>
          <a:p>
            <a:pPr algn="ctr">
              <a:defRPr sz="3000" b="1">
                <a:solidFill>
                  <a:srgbClr val="FFFFFF"/>
                </a:solidFill>
              </a:defRPr>
            </a:pPr>
            <a:r>
              <a:t>The Problem</a:t>
            </a:r>
          </a:p>
        </p:txBody>
      </p:sp>
      <p:sp>
        <p:nvSpPr>
          <p:cNvPr id="3" name="TextBox 2"/>
          <p:cNvSpPr txBox="1"/>
          <p:nvPr/>
        </p:nvSpPr>
        <p:spPr>
          <a:xfrm>
            <a:off x="502920" y="1325880"/>
            <a:ext cx="11155680" cy="5120640"/>
          </a:xfrm>
          <a:prstGeom prst="rect">
            <a:avLst/>
          </a:prstGeom>
          <a:noFill/>
        </p:spPr>
        <p:txBody>
          <a:bodyPr wrap="square">
            <a:spAutoFit/>
          </a:bodyPr>
          <a:lstStyle/>
          <a:p>
            <a:pPr>
              <a:spcAft>
                <a:spcPts val="1400"/>
              </a:spcAft>
            </a:pPr>
            <a:r>
              <a:rPr b="1" sz="1900">
                <a:solidFill>
                  <a:srgbClr val="1E3A8A"/>
                </a:solidFill>
              </a:rPr>
              <a:t>Campaigns run on instinct.  </a:t>
            </a:r>
            <a:r>
              <a:rPr sz="1900">
                <a:solidFill>
                  <a:srgbClr val="111827"/>
                </a:solidFill>
              </a:rPr>
              <a:t>TESCON and TEIN organisers plan outreach from personal familiarity and guesswork about who is popular.</a:t>
            </a:r>
          </a:p>
          <a:p>
            <a:pPr>
              <a:spcAft>
                <a:spcPts val="1400"/>
              </a:spcAft>
            </a:pPr>
            <a:r>
              <a:rPr b="1" sz="1900">
                <a:solidFill>
                  <a:srgbClr val="1E3A8A"/>
                </a:solidFill>
              </a:rPr>
              <a:t>Networks are invisible.  </a:t>
            </a:r>
            <a:r>
              <a:rPr sz="1900">
                <a:solidFill>
                  <a:srgbClr val="111827"/>
                </a:solidFill>
              </a:rPr>
              <a:t>Nobody can see who actually connects otherwise-separate friend groups, or which parts of campus a campaign keeps missing.</a:t>
            </a:r>
          </a:p>
          <a:p>
            <a:pPr>
              <a:spcAft>
                <a:spcPts val="1400"/>
              </a:spcAft>
            </a:pPr>
            <a:r>
              <a:rPr b="1" sz="1900">
                <a:solidFill>
                  <a:srgbClr val="1E3A8A"/>
                </a:solidFill>
              </a:rPr>
              <a:t>Effort goes to the wrong people.  </a:t>
            </a:r>
            <a:r>
              <a:rPr sz="1900">
                <a:solidFill>
                  <a:srgbClr val="111827"/>
                </a:solidFill>
              </a:rPr>
              <a:t>Outreach lands on students who were already reachable, while genuinely well-placed students are never identified.</a:t>
            </a:r>
          </a:p>
          <a:p>
            <a:pPr>
              <a:spcAft>
                <a:spcPts val="1400"/>
              </a:spcAft>
            </a:pPr>
            <a:r>
              <a:rPr b="1" sz="1900">
                <a:solidFill>
                  <a:srgbClr val="1E3A8A"/>
                </a:solidFill>
              </a:rPr>
              <a:t>The gap:  </a:t>
            </a:r>
            <a:r>
              <a:rPr sz="1900">
                <a:solidFill>
                  <a:srgbClr val="111827"/>
                </a:solidFill>
              </a:rPr>
              <a:t>no structured, evidence-based tool exists for this at UTAS.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457200" tIns="164592"/>
          <a:lstStyle/>
          <a:p>
            <a:pPr algn="ctr">
              <a:defRPr sz="3000" b="1">
                <a:solidFill>
                  <a:srgbClr val="FFFFFF"/>
                </a:solidFill>
              </a:defRPr>
            </a:pPr>
            <a:r>
              <a:t>Objectives</a:t>
            </a:r>
          </a:p>
        </p:txBody>
      </p:sp>
      <p:sp>
        <p:nvSpPr>
          <p:cNvPr id="3" name="TextBox 2"/>
          <p:cNvSpPr txBox="1"/>
          <p:nvPr/>
        </p:nvSpPr>
        <p:spPr>
          <a:xfrm>
            <a:off x="502920" y="1325880"/>
            <a:ext cx="11155680" cy="5120640"/>
          </a:xfrm>
          <a:prstGeom prst="rect">
            <a:avLst/>
          </a:prstGeom>
          <a:noFill/>
        </p:spPr>
        <p:txBody>
          <a:bodyPr wrap="square">
            <a:spAutoFit/>
          </a:bodyPr>
          <a:lstStyle/>
          <a:p>
            <a:pPr>
              <a:spcAft>
                <a:spcPts val="1400"/>
              </a:spcAft>
            </a:pPr>
            <a:r>
              <a:rPr b="1" sz="1900">
                <a:solidFill>
                  <a:srgbClr val="1E3A8A"/>
                </a:solidFill>
              </a:rPr>
              <a:t>Main:  </a:t>
            </a:r>
            <a:r>
              <a:rPr sz="1900">
                <a:solidFill>
                  <a:srgbClr val="111827"/>
                </a:solidFill>
              </a:rPr>
              <a:t>design and implement a web-based SNA system that models UTAS student friendship networks to support evidence-based campaign planning.</a:t>
            </a:r>
          </a:p>
          <a:p>
            <a:pPr>
              <a:spcAft>
                <a:spcPts val="1400"/>
              </a:spcAft>
            </a:pPr>
            <a:r>
              <a:rPr b="1" sz="1900">
                <a:solidFill>
                  <a:srgbClr val="1E3A8A"/>
                </a:solidFill>
              </a:rPr>
              <a:t>1.  </a:t>
            </a:r>
            <a:r>
              <a:rPr sz="1900">
                <a:solidFill>
                  <a:srgbClr val="111827"/>
                </a:solidFill>
              </a:rPr>
              <a:t>A relational data model and survey-based import pipeline for student and friendship data.</a:t>
            </a:r>
          </a:p>
          <a:p>
            <a:pPr>
              <a:spcAft>
                <a:spcPts val="1400"/>
              </a:spcAft>
            </a:pPr>
            <a:r>
              <a:rPr b="1" sz="1900">
                <a:solidFill>
                  <a:srgbClr val="1E3A8A"/>
                </a:solidFill>
              </a:rPr>
              <a:t>2.  </a:t>
            </a:r>
            <a:r>
              <a:rPr sz="1900">
                <a:solidFill>
                  <a:srgbClr val="111827"/>
                </a:solidFill>
              </a:rPr>
              <a:t>Centrality, PageRank, community-detection, and bridge-node algorithms over the network.</a:t>
            </a:r>
          </a:p>
          <a:p>
            <a:pPr>
              <a:spcAft>
                <a:spcPts val="1400"/>
              </a:spcAft>
            </a:pPr>
            <a:r>
              <a:rPr b="1" sz="1900">
                <a:solidFill>
                  <a:srgbClr val="1E3A8A"/>
                </a:solidFill>
              </a:rPr>
              <a:t>3.  </a:t>
            </a:r>
            <a:r>
              <a:rPr sz="1900">
                <a:solidFill>
                  <a:srgbClr val="111827"/>
                </a:solidFill>
              </a:rPr>
              <a:t>A role-based web interface with dashboards, rankings, an interactive graph, and reports.</a:t>
            </a:r>
          </a:p>
          <a:p>
            <a:pPr>
              <a:spcAft>
                <a:spcPts val="1400"/>
              </a:spcAft>
            </a:pPr>
            <a:r>
              <a:rPr b="1" sz="1900">
                <a:solidFill>
                  <a:srgbClr val="1E3A8A"/>
                </a:solidFill>
              </a:rPr>
              <a:t>4.  </a:t>
            </a:r>
            <a:r>
              <a:rPr sz="1900">
                <a:solidFill>
                  <a:srgbClr val="111827"/>
                </a:solidFill>
              </a:rPr>
              <a:t>A campaign-planning feature that turns the analytics into named outreach recommendations.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457200" tIns="164592"/>
          <a:lstStyle/>
          <a:p>
            <a:pPr algn="ctr">
              <a:defRPr sz="3000" b="1">
                <a:solidFill>
                  <a:srgbClr val="FFFFFF"/>
                </a:solidFill>
              </a:defRPr>
            </a:pPr>
            <a:r>
              <a:t>Related Work</a:t>
            </a:r>
          </a:p>
        </p:txBody>
      </p:sp>
      <p:sp>
        <p:nvSpPr>
          <p:cNvPr id="3" name="TextBox 2"/>
          <p:cNvSpPr txBox="1"/>
          <p:nvPr/>
        </p:nvSpPr>
        <p:spPr>
          <a:xfrm>
            <a:off x="502920" y="1325880"/>
            <a:ext cx="11155680" cy="5120640"/>
          </a:xfrm>
          <a:prstGeom prst="rect">
            <a:avLst/>
          </a:prstGeom>
          <a:noFill/>
        </p:spPr>
        <p:txBody>
          <a:bodyPr wrap="square">
            <a:spAutoFit/>
          </a:bodyPr>
          <a:lstStyle/>
          <a:p>
            <a:pPr>
              <a:spcAft>
                <a:spcPts val="1400"/>
              </a:spcAft>
            </a:pPr>
            <a:r>
              <a:rPr b="1" sz="1900">
                <a:solidFill>
                  <a:srgbClr val="1E3A8A"/>
                </a:solidFill>
              </a:rPr>
              <a:t>Mameli et al. (2022):  </a:t>
            </a:r>
            <a:r>
              <a:rPr sz="1900">
                <a:solidFill>
                  <a:srgbClr val="111827"/>
                </a:solidFill>
              </a:rPr>
              <a:t>SocMINT tracked an Italian election with graph metrics + sentiment on social media. Borrowed the graph-centred instinct; dropped platform scraping.</a:t>
            </a:r>
          </a:p>
          <a:p>
            <a:pPr>
              <a:spcAft>
                <a:spcPts val="1400"/>
              </a:spcAft>
            </a:pPr>
            <a:r>
              <a:rPr b="1" sz="1900">
                <a:solidFill>
                  <a:srgbClr val="1E3A8A"/>
                </a:solidFill>
              </a:rPr>
              <a:t>Khan et al. (2020):  </a:t>
            </a:r>
            <a:r>
              <a:rPr sz="1900">
                <a:solidFill>
                  <a:srgbClr val="111827"/>
                </a:solidFill>
              </a:rPr>
              <a:t>community detection revealed real supporter strength on Twitter. Same premise, but on consented survey data.</a:t>
            </a:r>
          </a:p>
          <a:p>
            <a:pPr>
              <a:spcAft>
                <a:spcPts val="1400"/>
              </a:spcAft>
            </a:pPr>
            <a:r>
              <a:rPr b="1" sz="1900">
                <a:solidFill>
                  <a:srgbClr val="1E3A8A"/>
                </a:solidFill>
              </a:rPr>
              <a:t>Liu et al. (2026):  </a:t>
            </a:r>
            <a:r>
              <a:rPr sz="1900">
                <a:solidFill>
                  <a:srgbClr val="111827"/>
                </a:solidFill>
              </a:rPr>
              <a:t>students in central/bridging positions had measurably better civic outcomes -- the closest study to this setting.</a:t>
            </a:r>
          </a:p>
          <a:p>
            <a:pPr>
              <a:spcAft>
                <a:spcPts val="1400"/>
              </a:spcAft>
            </a:pPr>
            <a:r>
              <a:rPr b="1" sz="1900">
                <a:solidFill>
                  <a:srgbClr val="1E3A8A"/>
                </a:solidFill>
              </a:rPr>
              <a:t>Paulis (2020):  </a:t>
            </a:r>
            <a:r>
              <a:rPr sz="1900">
                <a:solidFill>
                  <a:srgbClr val="111827"/>
                </a:solidFill>
              </a:rPr>
              <a:t>network position predicts party activism better than formal role.</a:t>
            </a:r>
          </a:p>
          <a:p>
            <a:pPr>
              <a:spcAft>
                <a:spcPts val="1400"/>
              </a:spcAft>
            </a:pPr>
            <a:r>
              <a:rPr b="1" sz="1900">
                <a:solidFill>
                  <a:srgbClr val="1E3A8A"/>
                </a:solidFill>
              </a:rPr>
              <a:t>Stier et al. (2018):  </a:t>
            </a:r>
            <a:r>
              <a:rPr sz="1900">
                <a:solidFill>
                  <a:srgbClr val="111827"/>
                </a:solidFill>
              </a:rPr>
              <a:t>campaigns unknowingly narrow their message to their own network -- exactly what bridge-node analysis guards against.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457200" tIns="164592"/>
          <a:lstStyle/>
          <a:p>
            <a:pPr algn="ctr">
              <a:defRPr sz="3000" b="1">
                <a:solidFill>
                  <a:srgbClr val="FFFFFF"/>
                </a:solidFill>
              </a:defRPr>
            </a:pPr>
            <a:r>
              <a:t>Methodology &amp; Technology</a:t>
            </a:r>
          </a:p>
        </p:txBody>
      </p:sp>
      <p:sp>
        <p:nvSpPr>
          <p:cNvPr id="3" name="TextBox 2"/>
          <p:cNvSpPr txBox="1"/>
          <p:nvPr/>
        </p:nvSpPr>
        <p:spPr>
          <a:xfrm>
            <a:off x="502920" y="1325880"/>
            <a:ext cx="11155680" cy="5120640"/>
          </a:xfrm>
          <a:prstGeom prst="rect">
            <a:avLst/>
          </a:prstGeom>
          <a:noFill/>
        </p:spPr>
        <p:txBody>
          <a:bodyPr wrap="square">
            <a:spAutoFit/>
          </a:bodyPr>
          <a:lstStyle/>
          <a:p>
            <a:pPr>
              <a:spcAft>
                <a:spcPts val="1400"/>
              </a:spcAft>
            </a:pPr>
            <a:r>
              <a:rPr b="1" sz="1900">
                <a:solidFill>
                  <a:srgbClr val="1E3A8A"/>
                </a:solidFill>
              </a:rPr>
              <a:t>Process:  </a:t>
            </a:r>
            <a:r>
              <a:rPr sz="1900">
                <a:solidFill>
                  <a:srgbClr val="111827"/>
                </a:solidFill>
              </a:rPr>
              <a:t>Agile, iterative cycles -- plan, design, build, test, review -- each leaving a working system.</a:t>
            </a:r>
          </a:p>
          <a:p>
            <a:pPr>
              <a:spcAft>
                <a:spcPts val="1400"/>
              </a:spcAft>
            </a:pPr>
            <a:r>
              <a:rPr b="1" sz="1900">
                <a:solidFill>
                  <a:srgbClr val="1E3A8A"/>
                </a:solidFill>
              </a:rPr>
              <a:t>Backend:  </a:t>
            </a:r>
            <a:r>
              <a:rPr sz="1900">
                <a:solidFill>
                  <a:srgbClr val="111827"/>
                </a:solidFill>
              </a:rPr>
              <a:t>Python, Flask REST API, SQLAlchemy, SQLite</a:t>
            </a:r>
          </a:p>
          <a:p>
            <a:pPr>
              <a:spcAft>
                <a:spcPts val="1400"/>
              </a:spcAft>
            </a:pPr>
            <a:r>
              <a:rPr b="1" sz="1900">
                <a:solidFill>
                  <a:srgbClr val="1E3A8A"/>
                </a:solidFill>
              </a:rPr>
              <a:t>Analysis:  </a:t>
            </a:r>
            <a:r>
              <a:rPr sz="1900">
                <a:solidFill>
                  <a:srgbClr val="111827"/>
                </a:solidFill>
              </a:rPr>
              <a:t>NetworkX (degree, betweenness, closeness, eigenvector, PageRank), python-louvain (community detection), bridge-node identification</a:t>
            </a:r>
          </a:p>
          <a:p>
            <a:pPr>
              <a:spcAft>
                <a:spcPts val="1400"/>
              </a:spcAft>
            </a:pPr>
            <a:r>
              <a:rPr b="1" sz="1900">
                <a:solidFill>
                  <a:srgbClr val="1E3A8A"/>
                </a:solidFill>
              </a:rPr>
              <a:t>Frontend:  </a:t>
            </a:r>
            <a:r>
              <a:rPr sz="1900">
                <a:solidFill>
                  <a:srgbClr val="111827"/>
                </a:solidFill>
              </a:rPr>
              <a:t>React + TypeScript, Tailwind CSS, interactive force-directed graph</a:t>
            </a:r>
          </a:p>
          <a:p>
            <a:pPr>
              <a:spcAft>
                <a:spcPts val="1400"/>
              </a:spcAft>
            </a:pPr>
            <a:r>
              <a:rPr b="1" sz="1900">
                <a:solidFill>
                  <a:srgbClr val="1E3A8A"/>
                </a:solidFill>
              </a:rPr>
              <a:t>Auth:  </a:t>
            </a:r>
            <a:r>
              <a:rPr sz="1900">
                <a:solidFill>
                  <a:srgbClr val="111827"/>
                </a:solidFill>
              </a:rPr>
              <a:t>JWT with three roles -- Student, Campaign Manager, Administrator -- enforced on the API</a:t>
            </a:r>
          </a:p>
          <a:p>
            <a:pPr>
              <a:spcAft>
                <a:spcPts val="1400"/>
              </a:spcAft>
            </a:pPr>
            <a:r>
              <a:rPr b="1" sz="1900">
                <a:solidFill>
                  <a:srgbClr val="1E3A8A"/>
                </a:solidFill>
              </a:rPr>
              <a:t>Quality:  </a:t>
            </a:r>
            <a:r>
              <a:rPr sz="1900">
                <a:solidFill>
                  <a:srgbClr val="111827"/>
                </a:solidFill>
              </a:rPr>
              <a:t>57 automated backend tests; TypeScript checks; live verification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457200" tIns="164592"/>
          <a:lstStyle/>
          <a:p>
            <a:pPr algn="ctr">
              <a:defRPr sz="3000" b="1">
                <a:solidFill>
                  <a:srgbClr val="FFFFFF"/>
                </a:solidFill>
              </a:defRPr>
            </a:pPr>
            <a:r>
              <a:t>Data Collection — Google Forms</a:t>
            </a:r>
          </a:p>
        </p:txBody>
      </p:sp>
      <p:sp>
        <p:nvSpPr>
          <p:cNvPr id="3" name="TextBox 2"/>
          <p:cNvSpPr txBox="1"/>
          <p:nvPr/>
        </p:nvSpPr>
        <p:spPr>
          <a:xfrm>
            <a:off x="502920" y="1325880"/>
            <a:ext cx="11155680" cy="5120640"/>
          </a:xfrm>
          <a:prstGeom prst="rect">
            <a:avLst/>
          </a:prstGeom>
          <a:noFill/>
        </p:spPr>
        <p:txBody>
          <a:bodyPr wrap="square">
            <a:spAutoFit/>
          </a:bodyPr>
          <a:lstStyle/>
          <a:p>
            <a:pPr>
              <a:spcAft>
                <a:spcPts val="1400"/>
              </a:spcAft>
            </a:pPr>
            <a:r>
              <a:rPr b="1" sz="1900">
                <a:solidFill>
                  <a:srgbClr val="1E3A8A"/>
                </a:solidFill>
              </a:rPr>
              <a:t>Instrument:  </a:t>
            </a:r>
            <a:r>
              <a:rPr sz="1900">
                <a:solidFill>
                  <a:srgbClr val="111827"/>
                </a:solidFill>
              </a:rPr>
              <a:t>structured survey; each submission names one close friend (3-5 encouraged).</a:t>
            </a:r>
          </a:p>
          <a:p>
            <a:pPr>
              <a:spcAft>
                <a:spcPts val="1400"/>
              </a:spcAft>
            </a:pPr>
            <a:r>
              <a:rPr b="1" sz="1900">
                <a:solidFill>
                  <a:srgbClr val="1E3A8A"/>
                </a:solidFill>
              </a:rPr>
              <a:t>Section 1 - About You:  </a:t>
            </a:r>
            <a:r>
              <a:rPr sz="1900">
                <a:solidFill>
                  <a:srgbClr val="111827"/>
                </a:solidFill>
              </a:rPr>
              <a:t>name, gender, programme, college, year, party, religion, tribe, regional capital, hometown</a:t>
            </a:r>
          </a:p>
          <a:p>
            <a:pPr>
              <a:spcAft>
                <a:spcPts val="1400"/>
              </a:spcAft>
            </a:pPr>
            <a:r>
              <a:rPr b="1" sz="1900">
                <a:solidFill>
                  <a:srgbClr val="1E3A8A"/>
                </a:solidFill>
              </a:rPr>
              <a:t>Section 2 - About This Friend:  </a:t>
            </a:r>
            <a:r>
              <a:rPr sz="1900">
                <a:solidFill>
                  <a:srgbClr val="111827"/>
                </a:solidFill>
              </a:rPr>
              <a:t>the same attributes for the named friend</a:t>
            </a:r>
          </a:p>
          <a:p>
            <a:pPr>
              <a:spcAft>
                <a:spcPts val="1400"/>
              </a:spcAft>
            </a:pPr>
            <a:r>
              <a:rPr b="1" sz="1900">
                <a:solidFill>
                  <a:srgbClr val="1E3A8A"/>
                </a:solidFill>
              </a:rPr>
              <a:t>Scope:  </a:t>
            </a:r>
            <a:r>
              <a:rPr sz="1900">
                <a:solidFill>
                  <a:srgbClr val="111827"/>
                </a:solidFill>
              </a:rPr>
              <a:t>campus-wide -- friends from any class, programme, or college count.</a:t>
            </a:r>
          </a:p>
          <a:p>
            <a:pPr>
              <a:spcAft>
                <a:spcPts val="1400"/>
              </a:spcAft>
            </a:pPr>
            <a:r>
              <a:rPr b="1" sz="1900">
                <a:solidFill>
                  <a:srgbClr val="1E3A8A"/>
                </a:solidFill>
              </a:rPr>
              <a:t>Consent:  </a:t>
            </a:r>
            <a:r>
              <a:rPr sz="1900">
                <a:solidFill>
                  <a:srgbClr val="111827"/>
                </a:solidFill>
              </a:rPr>
              <a:t>voluntary, informed responses; no scraping of any social-media platform.</a:t>
            </a:r>
          </a:p>
          <a:p>
            <a:pPr>
              <a:spcAft>
                <a:spcPts val="1400"/>
              </a:spcAft>
            </a:pPr>
            <a:r>
              <a:rPr b="1" sz="1900">
                <a:solidFill>
                  <a:srgbClr val="1E3A8A"/>
                </a:solidFill>
              </a:rPr>
              <a:t>Import:  </a:t>
            </a:r>
            <a:r>
              <a:rPr sz="1900">
                <a:solidFill>
                  <a:srgbClr val="111827"/>
                </a:solidFill>
              </a:rPr>
              <a:t>the Forms spreadsheet exports to Excel and imports directly into the system.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457200" tIns="164592"/>
          <a:lstStyle/>
          <a:p>
            <a:pPr algn="ctr">
              <a:defRPr sz="3000" b="1">
                <a:solidFill>
                  <a:srgbClr val="FFFFFF"/>
                </a:solidFill>
              </a:defRPr>
            </a:pPr>
            <a:r>
              <a:t>Cleaning Real Survey Data</a:t>
            </a:r>
          </a:p>
        </p:txBody>
      </p:sp>
      <p:sp>
        <p:nvSpPr>
          <p:cNvPr id="3" name="TextBox 2"/>
          <p:cNvSpPr txBox="1"/>
          <p:nvPr/>
        </p:nvSpPr>
        <p:spPr>
          <a:xfrm>
            <a:off x="502920" y="1325880"/>
            <a:ext cx="11155680" cy="5120640"/>
          </a:xfrm>
          <a:prstGeom prst="rect">
            <a:avLst/>
          </a:prstGeom>
          <a:noFill/>
        </p:spPr>
        <p:txBody>
          <a:bodyPr wrap="square">
            <a:spAutoFit/>
          </a:bodyPr>
          <a:lstStyle/>
          <a:p>
            <a:pPr>
              <a:spcAft>
                <a:spcPts val="1400"/>
              </a:spcAft>
            </a:pPr>
            <a:r>
              <a:rPr b="1" sz="1900">
                <a:solidFill>
                  <a:srgbClr val="1E3A8A"/>
                </a:solidFill>
              </a:rPr>
              <a:t>The same programme, a dozen spellings:  </a:t>
            </a:r>
            <a:r>
              <a:rPr sz="1900">
                <a:solidFill>
                  <a:srgbClr val="111827"/>
                </a:solidFill>
              </a:rPr>
              <a:t>"BSC COMPUTER SCIENCE", "Bsc. computer science", "Computer Science" -- all one department.</a:t>
            </a:r>
          </a:p>
          <a:p>
            <a:pPr>
              <a:spcAft>
                <a:spcPts val="1400"/>
              </a:spcAft>
            </a:pPr>
            <a:r>
              <a:rPr b="1" sz="1900">
                <a:solidFill>
                  <a:srgbClr val="1E3A8A"/>
                </a:solidFill>
              </a:rPr>
              <a:t>Fix:  </a:t>
            </a:r>
            <a:r>
              <a:rPr sz="1900">
                <a:solidFill>
                  <a:srgbClr val="111827"/>
                </a:solidFill>
              </a:rPr>
              <a:t>automatic normalisation on every import and edit; B.Ed correctly kept distinct from BSc.</a:t>
            </a:r>
          </a:p>
          <a:p>
            <a:pPr>
              <a:spcAft>
                <a:spcPts val="1400"/>
              </a:spcAft>
            </a:pPr>
            <a:r>
              <a:rPr b="1" sz="1900">
                <a:solidFill>
                  <a:srgbClr val="1E3A8A"/>
                </a:solidFill>
              </a:rPr>
              <a:t>A phantom student:  </a:t>
            </a:r>
            <a:r>
              <a:rPr sz="1900">
                <a:solidFill>
                  <a:srgbClr val="111827"/>
                </a:solidFill>
              </a:rPr>
              <a:t>one respondent typed "I don't have a friend in csc104" as the friend's name -- the importer created a fake student from it.</a:t>
            </a:r>
          </a:p>
          <a:p>
            <a:pPr>
              <a:spcAft>
                <a:spcPts val="1400"/>
              </a:spcAft>
            </a:pPr>
            <a:r>
              <a:rPr b="1" sz="1900">
                <a:solidFill>
                  <a:srgbClr val="1E3A8A"/>
                </a:solidFill>
              </a:rPr>
              <a:t>Fix:  </a:t>
            </a:r>
            <a:r>
              <a:rPr sz="1900">
                <a:solidFill>
                  <a:srgbClr val="111827"/>
                </a:solidFill>
              </a:rPr>
              <a:t>non-answer detection plus scripted, re-runnable cleanup of the affected records.</a:t>
            </a:r>
          </a:p>
          <a:p>
            <a:pPr>
              <a:spcAft>
                <a:spcPts val="1400"/>
              </a:spcAft>
            </a:pPr>
            <a:r>
              <a:rPr b="1" sz="1900">
                <a:solidFill>
                  <a:srgbClr val="1E3A8A"/>
                </a:solidFill>
              </a:rPr>
              <a:t>Lesson:  </a:t>
            </a:r>
            <a:r>
              <a:rPr sz="1900">
                <a:solidFill>
                  <a:srgbClr val="111827"/>
                </a:solidFill>
              </a:rPr>
              <a:t>self-reported data needs deliberate cleaning; future rounds should use dropdowns wherever the valid answers are known.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457200" tIns="164592"/>
          <a:lstStyle/>
          <a:p>
            <a:pPr algn="ctr">
              <a:defRPr sz="3000" b="1">
                <a:solidFill>
                  <a:srgbClr val="FFFFFF"/>
                </a:solidFill>
              </a:defRPr>
            </a:pPr>
            <a:r>
              <a:t>The System — Dashboard</a:t>
            </a:r>
          </a:p>
        </p:txBody>
      </p:sp>
      <p:pic>
        <p:nvPicPr>
          <p:cNvPr id="3" name="Picture 2" descr="dashboard.png"/>
          <p:cNvPicPr>
            <a:picLocks noChangeAspect="1"/>
          </p:cNvPicPr>
          <p:nvPr/>
        </p:nvPicPr>
        <p:blipFill>
          <a:blip r:embed="rId2"/>
          <a:stretch>
            <a:fillRect/>
          </a:stretch>
        </p:blipFill>
        <p:spPr>
          <a:xfrm>
            <a:off x="1706727" y="1234440"/>
            <a:ext cx="8778240" cy="4937760"/>
          </a:xfrm>
          <a:prstGeom prst="rect">
            <a:avLst/>
          </a:prstGeom>
        </p:spPr>
      </p:pic>
      <p:sp>
        <p:nvSpPr>
          <p:cNvPr id="4" name="TextBox 3"/>
          <p:cNvSpPr txBox="1"/>
          <p:nvPr/>
        </p:nvSpPr>
        <p:spPr>
          <a:xfrm>
            <a:off x="822960" y="6263640"/>
            <a:ext cx="10515600" cy="457200"/>
          </a:xfrm>
          <a:prstGeom prst="rect">
            <a:avLst/>
          </a:prstGeom>
          <a:noFill/>
        </p:spPr>
        <p:txBody>
          <a:bodyPr wrap="none">
            <a:spAutoFit/>
          </a:bodyPr>
          <a:lstStyle/>
          <a:p>
            <a:pPr algn="ctr">
              <a:defRPr sz="1300" i="1">
                <a:solidFill>
                  <a:srgbClr val="6B7280"/>
                </a:solidFill>
              </a:defRPr>
            </a:pPr>
            <a:r>
              <a:t>KPI cards, distribution charts, quick actions, and recent activity.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457200" tIns="164592"/>
          <a:lstStyle/>
          <a:p>
            <a:pPr algn="ctr">
              <a:defRPr sz="3000" b="1">
                <a:solidFill>
                  <a:srgbClr val="FFFFFF"/>
                </a:solidFill>
              </a:defRPr>
            </a:pPr>
            <a:r>
              <a:t>The System — Analysis</a:t>
            </a:r>
          </a:p>
        </p:txBody>
      </p:sp>
      <p:pic>
        <p:nvPicPr>
          <p:cNvPr id="3" name="Picture 2" descr="analysis.png"/>
          <p:cNvPicPr>
            <a:picLocks noChangeAspect="1"/>
          </p:cNvPicPr>
          <p:nvPr/>
        </p:nvPicPr>
        <p:blipFill>
          <a:blip r:embed="rId2"/>
          <a:stretch>
            <a:fillRect/>
          </a:stretch>
        </p:blipFill>
        <p:spPr>
          <a:xfrm>
            <a:off x="1706727" y="1234440"/>
            <a:ext cx="8778240" cy="4937760"/>
          </a:xfrm>
          <a:prstGeom prst="rect">
            <a:avLst/>
          </a:prstGeom>
        </p:spPr>
      </p:pic>
      <p:sp>
        <p:nvSpPr>
          <p:cNvPr id="4" name="TextBox 3"/>
          <p:cNvSpPr txBox="1"/>
          <p:nvPr/>
        </p:nvSpPr>
        <p:spPr>
          <a:xfrm>
            <a:off x="822960" y="6263640"/>
            <a:ext cx="10515600" cy="457200"/>
          </a:xfrm>
          <a:prstGeom prst="rect">
            <a:avLst/>
          </a:prstGeom>
          <a:noFill/>
        </p:spPr>
        <p:txBody>
          <a:bodyPr wrap="none">
            <a:spAutoFit/>
          </a:bodyPr>
          <a:lstStyle/>
          <a:p>
            <a:pPr algn="ctr">
              <a:defRPr sz="1300" i="1">
                <a:solidFill>
                  <a:srgbClr val="6B7280"/>
                </a:solidFill>
              </a:defRPr>
            </a:pPr>
            <a:r>
              <a:t>A ranked card per centrality metric, with descriptions and CSV export.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457200" tIns="164592"/>
          <a:lstStyle/>
          <a:p>
            <a:pPr algn="ctr">
              <a:defRPr sz="3000" b="1">
                <a:solidFill>
                  <a:srgbClr val="FFFFFF"/>
                </a:solidFill>
              </a:defRPr>
            </a:pPr>
            <a:r>
              <a:t>The System — Network Graph</a:t>
            </a:r>
          </a:p>
        </p:txBody>
      </p:sp>
      <p:pic>
        <p:nvPicPr>
          <p:cNvPr id="3" name="Picture 2" descr="network_graph.png"/>
          <p:cNvPicPr>
            <a:picLocks noChangeAspect="1"/>
          </p:cNvPicPr>
          <p:nvPr/>
        </p:nvPicPr>
        <p:blipFill>
          <a:blip r:embed="rId2"/>
          <a:stretch>
            <a:fillRect/>
          </a:stretch>
        </p:blipFill>
        <p:spPr>
          <a:xfrm>
            <a:off x="1706727" y="1234440"/>
            <a:ext cx="8778240" cy="4937760"/>
          </a:xfrm>
          <a:prstGeom prst="rect">
            <a:avLst/>
          </a:prstGeom>
        </p:spPr>
      </p:pic>
      <p:sp>
        <p:nvSpPr>
          <p:cNvPr id="4" name="TextBox 3"/>
          <p:cNvSpPr txBox="1"/>
          <p:nvPr/>
        </p:nvSpPr>
        <p:spPr>
          <a:xfrm>
            <a:off x="822960" y="6263640"/>
            <a:ext cx="10515600" cy="457200"/>
          </a:xfrm>
          <a:prstGeom prst="rect">
            <a:avLst/>
          </a:prstGeom>
          <a:noFill/>
        </p:spPr>
        <p:txBody>
          <a:bodyPr wrap="none">
            <a:spAutoFit/>
          </a:bodyPr>
          <a:lstStyle/>
          <a:p>
            <a:pPr algn="ctr">
              <a:defRPr sz="1300" i="1">
                <a:solidFill>
                  <a:srgbClr val="6B7280"/>
                </a:solidFill>
              </a:defRPr>
            </a:pPr>
            <a:r>
              <a:t>Force-directed friendship graph; node colour selectable by party, community, department, tribe, religion, hometown, district, or regional capital.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457200" tIns="164592"/>
          <a:lstStyle/>
          <a:p>
            <a:pPr algn="ctr">
              <a:defRPr sz="3000" b="1">
                <a:solidFill>
                  <a:srgbClr val="FFFFFF"/>
                </a:solidFill>
              </a:defRPr>
            </a:pPr>
            <a:r>
              <a:t>Results — The Numbers</a:t>
            </a:r>
          </a:p>
        </p:txBody>
      </p:sp>
      <p:sp>
        <p:nvSpPr>
          <p:cNvPr id="3" name="TextBox 2"/>
          <p:cNvSpPr txBox="1"/>
          <p:nvPr/>
        </p:nvSpPr>
        <p:spPr>
          <a:xfrm>
            <a:off x="502920" y="1325880"/>
            <a:ext cx="11155680" cy="5120640"/>
          </a:xfrm>
          <a:prstGeom prst="rect">
            <a:avLst/>
          </a:prstGeom>
          <a:noFill/>
        </p:spPr>
        <p:txBody>
          <a:bodyPr wrap="square">
            <a:spAutoFit/>
          </a:bodyPr>
          <a:lstStyle/>
          <a:p>
            <a:pPr>
              <a:spcAft>
                <a:spcPts val="1400"/>
              </a:spcAft>
            </a:pPr>
            <a:r>
              <a:rPr b="1" sz="1900">
                <a:solidFill>
                  <a:srgbClr val="1E3A8A"/>
                </a:solidFill>
              </a:rPr>
              <a:t>331 students, 197 friendship connections  </a:t>
            </a:r>
            <a:r>
              <a:rPr sz="1900">
                <a:solidFill>
                  <a:srgbClr val="111827"/>
                </a:solidFill>
              </a:rPr>
              <a:t>collected and analysed (after cleaning).</a:t>
            </a:r>
          </a:p>
          <a:p>
            <a:pPr>
              <a:spcAft>
                <a:spcPts val="1400"/>
              </a:spcAft>
            </a:pPr>
            <a:r>
              <a:rPr b="1" sz="1900">
                <a:solidFill>
                  <a:srgbClr val="1E3A8A"/>
                </a:solidFill>
              </a:rPr>
              <a:t>140 communities detected;  </a:t>
            </a:r>
            <a:r>
              <a:rPr sz="1900">
                <a:solidFill>
                  <a:srgbClr val="111827"/>
                </a:solidFill>
              </a:rPr>
              <a:t>the largest has only 6 students.</a:t>
            </a:r>
          </a:p>
          <a:p>
            <a:pPr>
              <a:spcAft>
                <a:spcPts val="1400"/>
              </a:spcAft>
            </a:pPr>
            <a:r>
              <a:rPr b="1" sz="1900">
                <a:solidFill>
                  <a:srgbClr val="1E3A8A"/>
                </a:solidFill>
              </a:rPr>
              <a:t>Influence tiers:  </a:t>
            </a:r>
            <a:r>
              <a:rPr sz="1900">
                <a:solidFill>
                  <a:srgbClr val="111827"/>
                </a:solidFill>
              </a:rPr>
              <a:t>33 High, 67 Medium, 231 Low.</a:t>
            </a:r>
          </a:p>
          <a:p>
            <a:pPr>
              <a:spcAft>
                <a:spcPts val="1400"/>
              </a:spcAft>
            </a:pPr>
            <a:r>
              <a:rPr b="1" sz="1900">
                <a:solidFill>
                  <a:srgbClr val="1E3A8A"/>
                </a:solidFill>
              </a:rPr>
              <a:t>0 bridge nodes  </a:t>
            </a:r>
            <a:r>
              <a:rPr sz="1900">
                <a:solidFill>
                  <a:srgbClr val="111827"/>
                </a:solidFill>
              </a:rPr>
              <a:t>-- no single student currently connects otherwise-separate components.</a:t>
            </a:r>
          </a:p>
          <a:p>
            <a:pPr>
              <a:spcAft>
                <a:spcPts val="1400"/>
              </a:spcAft>
            </a:pPr>
            <a:r>
              <a:rPr b="1" sz="1900">
                <a:solidFill>
                  <a:srgbClr val="1E3A8A"/>
                </a:solidFill>
              </a:rPr>
              <a:t>Cohort shape:  </a:t>
            </a:r>
            <a:r>
              <a:rPr sz="1900">
                <a:solidFill>
                  <a:srgbClr val="111827"/>
                </a:solidFill>
              </a:rPr>
              <a:t>85% male; IT (132) and Computer Science (104) dominate; 174 Christian, 151 Muslim respondents.</a:t>
            </a:r>
          </a:p>
          <a:p>
            <a:pPr>
              <a:spcAft>
                <a:spcPts val="1400"/>
              </a:spcAft>
            </a:pPr>
            <a:r>
              <a:rPr b="1" sz="1900">
                <a:solidFill>
                  <a:srgbClr val="1E3A8A"/>
                </a:solidFill>
              </a:rPr>
              <a:t>Top departments:  </a:t>
            </a:r>
            <a:r>
              <a:rPr sz="1900">
                <a:solidFill>
                  <a:srgbClr val="111827"/>
                </a:solidFill>
              </a:rPr>
              <a:t>IT, Computer Science, Computing with Accounting, B.Ed Mathematics.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457200" tIns="164592"/>
          <a:lstStyle/>
          <a:p>
            <a:pPr algn="ctr">
              <a:defRPr sz="3000" b="1">
                <a:solidFill>
                  <a:srgbClr val="FFFFFF"/>
                </a:solidFill>
              </a:defRPr>
            </a:pPr>
            <a:r>
              <a:t>Results — What They Mean</a:t>
            </a:r>
          </a:p>
        </p:txBody>
      </p:sp>
      <p:sp>
        <p:nvSpPr>
          <p:cNvPr id="3" name="TextBox 2"/>
          <p:cNvSpPr txBox="1"/>
          <p:nvPr/>
        </p:nvSpPr>
        <p:spPr>
          <a:xfrm>
            <a:off x="502920" y="1325880"/>
            <a:ext cx="11155680" cy="5120640"/>
          </a:xfrm>
          <a:prstGeom prst="rect">
            <a:avLst/>
          </a:prstGeom>
          <a:noFill/>
        </p:spPr>
        <p:txBody>
          <a:bodyPr wrap="square">
            <a:spAutoFit/>
          </a:bodyPr>
          <a:lstStyle/>
          <a:p>
            <a:pPr>
              <a:spcAft>
                <a:spcPts val="1400"/>
              </a:spcAft>
            </a:pPr>
            <a:r>
              <a:rPr b="1" sz="1900">
                <a:solidFill>
                  <a:srgbClr val="1E3A8A"/>
                </a:solidFill>
              </a:rPr>
              <a:t>The network is genuinely sparse.  </a:t>
            </a:r>
            <a:r>
              <a:rPr sz="1900">
                <a:solidFill>
                  <a:srgbClr val="111827"/>
                </a:solidFill>
              </a:rPr>
              <a:t>197 edges across 331 students is far below one friend named per student; most respondents named one or two.</a:t>
            </a:r>
          </a:p>
          <a:p>
            <a:pPr>
              <a:spcAft>
                <a:spcPts val="1400"/>
              </a:spcAft>
            </a:pPr>
            <a:r>
              <a:rPr b="1" sz="1900">
                <a:solidFill>
                  <a:srgbClr val="1E3A8A"/>
                </a:solidFill>
              </a:rPr>
              <a:t>Fragmentation, not cliques:  </a:t>
            </a:r>
            <a:r>
              <a:rPr sz="1900">
                <a:solidFill>
                  <a:srgbClr val="111827"/>
                </a:solidFill>
              </a:rPr>
              <a:t>140 tiny communities means the survey captured islands of friendship, not yet the bridges between them.</a:t>
            </a:r>
          </a:p>
          <a:p>
            <a:pPr>
              <a:spcAft>
                <a:spcPts val="1400"/>
              </a:spcAft>
            </a:pPr>
            <a:r>
              <a:rPr b="1" sz="1900">
                <a:solidFill>
                  <a:srgbClr val="1E3A8A"/>
                </a:solidFill>
              </a:rPr>
              <a:t>Zero bridge nodes is a finding, not a failure:  </a:t>
            </a:r>
            <a:r>
              <a:rPr sz="1900">
                <a:solidFill>
                  <a:srgbClr val="111827"/>
                </a:solidFill>
              </a:rPr>
              <a:t>with this coverage, no student yet links separate components -- more data will surface them.</a:t>
            </a:r>
          </a:p>
          <a:p>
            <a:pPr>
              <a:spcAft>
                <a:spcPts val="1400"/>
              </a:spcAft>
            </a:pPr>
            <a:r>
              <a:rPr b="1" sz="1900">
                <a:solidFill>
                  <a:srgbClr val="1E3A8A"/>
                </a:solidFill>
              </a:rPr>
              <a:t>Influence is already measurable:  </a:t>
            </a:r>
            <a:r>
              <a:rPr sz="1900">
                <a:solidFill>
                  <a:srgbClr val="111827"/>
                </a:solidFill>
              </a:rPr>
              <a:t>even in a sparse graph, 33 students clearly stand out as locally central -- real, named outreach targets.</a:t>
            </a:r>
          </a:p>
          <a:p>
            <a:pPr>
              <a:spcAft>
                <a:spcPts val="1400"/>
              </a:spcAft>
            </a:pPr>
            <a:r>
              <a:rPr b="1" sz="1900">
                <a:solidFill>
                  <a:srgbClr val="1E3A8A"/>
                </a:solidFill>
              </a:rPr>
              <a:t>Direct implication:  </a:t>
            </a:r>
            <a:r>
              <a:rPr sz="1900">
                <a:solidFill>
                  <a:srgbClr val="111827"/>
                </a:solidFill>
              </a:rPr>
              <a:t>the campus-wide collection round now under way should densify the graph and unlock bridge-node and cross-community analysis.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457200" tIns="164592"/>
          <a:lstStyle/>
          <a:p>
            <a:pPr algn="ctr">
              <a:defRPr sz="3000" b="1">
                <a:solidFill>
                  <a:srgbClr val="FFFFFF"/>
                </a:solidFill>
              </a:defRPr>
            </a:pPr>
            <a:r>
              <a:t>From Analysis to Action</a:t>
            </a:r>
          </a:p>
        </p:txBody>
      </p:sp>
      <p:sp>
        <p:nvSpPr>
          <p:cNvPr id="3" name="TextBox 2"/>
          <p:cNvSpPr txBox="1"/>
          <p:nvPr/>
        </p:nvSpPr>
        <p:spPr>
          <a:xfrm>
            <a:off x="502920" y="1325880"/>
            <a:ext cx="11155680" cy="5120640"/>
          </a:xfrm>
          <a:prstGeom prst="rect">
            <a:avLst/>
          </a:prstGeom>
          <a:noFill/>
        </p:spPr>
        <p:txBody>
          <a:bodyPr wrap="square">
            <a:spAutoFit/>
          </a:bodyPr>
          <a:lstStyle/>
          <a:p>
            <a:pPr>
              <a:spcAft>
                <a:spcPts val="1400"/>
              </a:spcAft>
            </a:pPr>
            <a:r>
              <a:rPr b="1" sz="1900">
                <a:solidFill>
                  <a:srgbClr val="1E3A8A"/>
                </a:solidFill>
              </a:rPr>
              <a:t>One-click campaign plan:  </a:t>
            </a:r>
            <a:r>
              <a:rPr sz="1900">
                <a:solidFill>
                  <a:srgbClr val="111827"/>
                </a:solidFill>
              </a:rPr>
              <a:t>reads the live analysis and creates a campaign with a concrete, named outreach plan -- top influencers to engage, coverage gaps to fill.</a:t>
            </a:r>
          </a:p>
          <a:p>
            <a:pPr>
              <a:spcAft>
                <a:spcPts val="1400"/>
              </a:spcAft>
            </a:pPr>
            <a:r>
              <a:rPr b="1" sz="1900">
                <a:solidFill>
                  <a:srgbClr val="1E3A8A"/>
                </a:solidFill>
              </a:rPr>
              <a:t>Recommendations per campaign:  </a:t>
            </a:r>
            <a:r>
              <a:rPr sz="1900">
                <a:solidFill>
                  <a:srgbClr val="111827"/>
                </a:solidFill>
              </a:rPr>
              <a:t>top influencers and bridge students, filtered to the campaign's target party.</a:t>
            </a:r>
          </a:p>
          <a:p>
            <a:pPr>
              <a:spcAft>
                <a:spcPts val="1400"/>
              </a:spcAft>
            </a:pPr>
            <a:r>
              <a:rPr b="1" sz="1900">
                <a:solidFill>
                  <a:srgbClr val="1E3A8A"/>
                </a:solidFill>
              </a:rPr>
              <a:t>Expert advice:  </a:t>
            </a:r>
            <a:r>
              <a:rPr sz="1900">
                <a:solidFill>
                  <a:srgbClr val="111827"/>
                </a:solidFill>
              </a:rPr>
              <a:t>a rule-based advisor interprets the metrics in plain language -- e.g. flagging network sparsity and suggesting what to collect next.</a:t>
            </a:r>
          </a:p>
          <a:p>
            <a:pPr>
              <a:spcAft>
                <a:spcPts val="1400"/>
              </a:spcAft>
            </a:pPr>
            <a:r>
              <a:rPr b="1" sz="1900">
                <a:solidFill>
                  <a:srgbClr val="1E3A8A"/>
                </a:solidFill>
              </a:rPr>
              <a:t>Why it matters:  </a:t>
            </a:r>
            <a:r>
              <a:rPr sz="1900">
                <a:solidFill>
                  <a:srgbClr val="111827"/>
                </a:solidFill>
              </a:rPr>
              <a:t>the output is an action list with names, not a table of numbers.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457200" tIns="164592"/>
          <a:lstStyle/>
          <a:p>
            <a:pPr algn="ctr">
              <a:defRPr sz="3000" b="1">
                <a:solidFill>
                  <a:srgbClr val="FFFFFF"/>
                </a:solidFill>
              </a:defRPr>
            </a:pPr>
            <a:r>
              <a:t>Deployment &amp; Quality</a:t>
            </a:r>
          </a:p>
        </p:txBody>
      </p:sp>
      <p:sp>
        <p:nvSpPr>
          <p:cNvPr id="3" name="TextBox 2"/>
          <p:cNvSpPr txBox="1"/>
          <p:nvPr/>
        </p:nvSpPr>
        <p:spPr>
          <a:xfrm>
            <a:off x="502920" y="1325880"/>
            <a:ext cx="11155680" cy="5120640"/>
          </a:xfrm>
          <a:prstGeom prst="rect">
            <a:avLst/>
          </a:prstGeom>
          <a:noFill/>
        </p:spPr>
        <p:txBody>
          <a:bodyPr wrap="square">
            <a:spAutoFit/>
          </a:bodyPr>
          <a:lstStyle/>
          <a:p>
            <a:pPr>
              <a:spcAft>
                <a:spcPts val="1400"/>
              </a:spcAft>
            </a:pPr>
            <a:r>
              <a:rPr b="1" sz="1900">
                <a:solidFill>
                  <a:srgbClr val="1E3A8A"/>
                </a:solidFill>
              </a:rPr>
              <a:t>Live on the internet:  </a:t>
            </a:r>
            <a:r>
              <a:rPr sz="1900">
                <a:solidFill>
                  <a:srgbClr val="111827"/>
                </a:solidFill>
              </a:rPr>
              <a:t>frontend on Firebase Hosting, backend on PythonAnywhere -- myapplication-65e7d8b9.web.app</a:t>
            </a:r>
          </a:p>
          <a:p>
            <a:pPr>
              <a:spcAft>
                <a:spcPts val="1400"/>
              </a:spcAft>
            </a:pPr>
            <a:r>
              <a:rPr b="1" sz="1900">
                <a:solidFill>
                  <a:srgbClr val="1E3A8A"/>
                </a:solidFill>
              </a:rPr>
              <a:t>Free-tier hosting throughout:  </a:t>
            </a:r>
            <a:r>
              <a:rPr sz="1900">
                <a:solidFill>
                  <a:srgbClr val="111827"/>
                </a:solidFill>
              </a:rPr>
              <a:t>no running cost, so the system outlives the assessment period.</a:t>
            </a:r>
          </a:p>
          <a:p>
            <a:pPr>
              <a:spcAft>
                <a:spcPts val="1400"/>
              </a:spcAft>
            </a:pPr>
            <a:r>
              <a:rPr b="1" sz="1900">
                <a:solidFill>
                  <a:srgbClr val="1E3A8A"/>
                </a:solidFill>
              </a:rPr>
              <a:t>57 automated backend tests:  </a:t>
            </a:r>
            <a:r>
              <a:rPr sz="1900">
                <a:solidFill>
                  <a:srgbClr val="111827"/>
                </a:solidFill>
              </a:rPr>
              <a:t>auth, students, connections, campaigns, analysis endpoints, and the survey importer.</a:t>
            </a:r>
          </a:p>
          <a:p>
            <a:pPr>
              <a:spcAft>
                <a:spcPts val="1400"/>
              </a:spcAft>
            </a:pPr>
            <a:r>
              <a:rPr b="1" sz="1900">
                <a:solidFill>
                  <a:srgbClr val="1E3A8A"/>
                </a:solidFill>
              </a:rPr>
              <a:t>Role-based security:  </a:t>
            </a:r>
            <a:r>
              <a:rPr sz="1900">
                <a:solidFill>
                  <a:srgbClr val="111827"/>
                </a:solidFill>
              </a:rPr>
              <a:t>every restriction enforced in the API, not just hidden in the interface.</a:t>
            </a:r>
          </a:p>
          <a:p>
            <a:pPr>
              <a:spcAft>
                <a:spcPts val="1400"/>
              </a:spcAft>
            </a:pPr>
            <a:r>
              <a:rPr b="1" sz="1900">
                <a:solidFill>
                  <a:srgbClr val="1E3A8A"/>
                </a:solidFill>
              </a:rPr>
              <a:t>Google Sign-In  </a:t>
            </a:r>
            <a:r>
              <a:rPr sz="1900">
                <a:solidFill>
                  <a:srgbClr val="111827"/>
                </a:solidFill>
              </a:rPr>
              <a:t>alongside username/password authentication.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457200" tIns="164592"/>
          <a:lstStyle/>
          <a:p>
            <a:pPr algn="ctr">
              <a:defRPr sz="3000" b="1">
                <a:solidFill>
                  <a:srgbClr val="FFFFFF"/>
                </a:solidFill>
              </a:defRPr>
            </a:pPr>
            <a:r>
              <a:t>Limitations &amp; Future Work</a:t>
            </a:r>
          </a:p>
        </p:txBody>
      </p:sp>
      <p:sp>
        <p:nvSpPr>
          <p:cNvPr id="3" name="TextBox 2"/>
          <p:cNvSpPr txBox="1"/>
          <p:nvPr/>
        </p:nvSpPr>
        <p:spPr>
          <a:xfrm>
            <a:off x="502920" y="1325880"/>
            <a:ext cx="11155680" cy="5120640"/>
          </a:xfrm>
          <a:prstGeom prst="rect">
            <a:avLst/>
          </a:prstGeom>
          <a:noFill/>
        </p:spPr>
        <p:txBody>
          <a:bodyPr wrap="square">
            <a:spAutoFit/>
          </a:bodyPr>
          <a:lstStyle/>
          <a:p>
            <a:pPr>
              <a:spcAft>
                <a:spcPts val="1400"/>
              </a:spcAft>
            </a:pPr>
            <a:r>
              <a:rPr b="1" sz="1900">
                <a:solidFill>
                  <a:srgbClr val="1E3A8A"/>
                </a:solidFill>
              </a:rPr>
              <a:t>Data sparsity:  </a:t>
            </a:r>
            <a:r>
              <a:rPr sz="1900">
                <a:solidFill>
                  <a:srgbClr val="111827"/>
                </a:solidFill>
              </a:rPr>
              <a:t>results are bounded by survey coverage; the campus-wide round is collecting more.</a:t>
            </a:r>
          </a:p>
          <a:p>
            <a:pPr>
              <a:spcAft>
                <a:spcPts val="1400"/>
              </a:spcAft>
            </a:pPr>
            <a:r>
              <a:rPr b="1" sz="1900">
                <a:solidFill>
                  <a:srgbClr val="1E3A8A"/>
                </a:solidFill>
              </a:rPr>
              <a:t>Undirected graph only:  </a:t>
            </a:r>
            <a:r>
              <a:rPr sz="1900">
                <a:solidFill>
                  <a:srgbClr val="111827"/>
                </a:solidFill>
              </a:rPr>
              <a:t>mutual friendship; directional ties would need different centrality measures.</a:t>
            </a:r>
          </a:p>
          <a:p>
            <a:pPr>
              <a:spcAft>
                <a:spcPts val="1400"/>
              </a:spcAft>
            </a:pPr>
            <a:r>
              <a:rPr b="1" sz="1900">
                <a:solidFill>
                  <a:srgbClr val="1E3A8A"/>
                </a:solidFill>
              </a:rPr>
              <a:t>Batch analysis, not real-time:  </a:t>
            </a:r>
            <a:r>
              <a:rPr sz="1900">
                <a:solidFill>
                  <a:srgbClr val="111827"/>
                </a:solidFill>
              </a:rPr>
              <a:t>on-demand recomputation; a live pipeline is future work.</a:t>
            </a:r>
          </a:p>
          <a:p>
            <a:pPr>
              <a:spcAft>
                <a:spcPts val="1400"/>
              </a:spcAft>
            </a:pPr>
            <a:r>
              <a:rPr b="1" sz="1900">
                <a:solidFill>
                  <a:srgbClr val="1E3A8A"/>
                </a:solidFill>
              </a:rPr>
              <a:t>No sentiment or prediction yet:  </a:t>
            </a:r>
            <a:r>
              <a:rPr sz="1900">
                <a:solidFill>
                  <a:srgbClr val="111827"/>
                </a:solidFill>
              </a:rPr>
              <a:t>the literature points to both as natural next layers.</a:t>
            </a:r>
          </a:p>
          <a:p>
            <a:pPr>
              <a:spcAft>
                <a:spcPts val="1400"/>
              </a:spcAft>
            </a:pPr>
            <a:r>
              <a:rPr b="1" sz="1900">
                <a:solidFill>
                  <a:srgbClr val="1E3A8A"/>
                </a:solidFill>
              </a:rPr>
              <a:t>Anonymisation:  </a:t>
            </a:r>
            <a:r>
              <a:rPr sz="1900">
                <a:solidFill>
                  <a:srgbClr val="111827"/>
                </a:solidFill>
              </a:rPr>
              <a:t>a built-in redaction step for real names/emails is the first thing to add next.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457200" tIns="164592"/>
          <a:lstStyle/>
          <a:p>
            <a:pPr algn="ctr">
              <a:defRPr sz="3000" b="1">
                <a:solidFill>
                  <a:srgbClr val="FFFFFF"/>
                </a:solidFill>
              </a:defRPr>
            </a:pPr>
            <a:r>
              <a:t>Conclusion</a:t>
            </a:r>
          </a:p>
        </p:txBody>
      </p:sp>
      <p:sp>
        <p:nvSpPr>
          <p:cNvPr id="3" name="TextBox 2"/>
          <p:cNvSpPr txBox="1"/>
          <p:nvPr/>
        </p:nvSpPr>
        <p:spPr>
          <a:xfrm>
            <a:off x="502920" y="1325880"/>
            <a:ext cx="11155680" cy="5120640"/>
          </a:xfrm>
          <a:prstGeom prst="rect">
            <a:avLst/>
          </a:prstGeom>
          <a:noFill/>
        </p:spPr>
        <p:txBody>
          <a:bodyPr wrap="square">
            <a:spAutoFit/>
          </a:bodyPr>
          <a:lstStyle/>
          <a:p>
            <a:pPr>
              <a:spcAft>
                <a:spcPts val="1400"/>
              </a:spcAft>
            </a:pPr>
            <a:r>
              <a:rPr b="1" sz="1900">
                <a:solidFill>
                  <a:srgbClr val="1E3A8A"/>
                </a:solidFill>
              </a:rPr>
              <a:t>All four objectives met:  </a:t>
            </a:r>
            <a:r>
              <a:rPr sz="1900">
                <a:solidFill>
                  <a:srgbClr val="111827"/>
                </a:solidFill>
              </a:rPr>
              <a:t>data pipeline, full SNA engine, role-based interface, campaign planner.</a:t>
            </a:r>
          </a:p>
          <a:p>
            <a:pPr>
              <a:spcAft>
                <a:spcPts val="1400"/>
              </a:spcAft>
            </a:pPr>
            <a:r>
              <a:rPr b="1" sz="1900">
                <a:solidFill>
                  <a:srgbClr val="1E3A8A"/>
                </a:solidFill>
              </a:rPr>
              <a:t>Real primary data,  </a:t>
            </a:r>
            <a:r>
              <a:rPr sz="1900">
                <a:solidFill>
                  <a:srgbClr val="111827"/>
                </a:solidFill>
              </a:rPr>
              <a:t>collected by consent through Google Forms and cleaned for analysis.</a:t>
            </a:r>
          </a:p>
          <a:p>
            <a:pPr>
              <a:spcAft>
                <a:spcPts val="1400"/>
              </a:spcAft>
            </a:pPr>
            <a:r>
              <a:rPr b="1" sz="1900">
                <a:solidFill>
                  <a:srgbClr val="1E3A8A"/>
                </a:solidFill>
              </a:rPr>
              <a:t>A working, deployed, tested system  </a:t>
            </a:r>
            <a:r>
              <a:rPr sz="1900">
                <a:solidFill>
                  <a:srgbClr val="111827"/>
                </a:solidFill>
              </a:rPr>
              <a:t>-- not a prototype or a mock-up.</a:t>
            </a:r>
          </a:p>
          <a:p>
            <a:pPr>
              <a:spcAft>
                <a:spcPts val="1400"/>
              </a:spcAft>
            </a:pPr>
            <a:r>
              <a:rPr b="1" sz="1900">
                <a:solidFill>
                  <a:srgbClr val="1E3A8A"/>
                </a:solidFill>
              </a:rPr>
              <a:t>Replaces guesswork  </a:t>
            </a:r>
            <a:r>
              <a:rPr sz="1900">
                <a:solidFill>
                  <a:srgbClr val="111827"/>
                </a:solidFill>
              </a:rPr>
              <a:t>with evidence about who to approach and where the coverage gaps are.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560320"/>
            <a:ext cx="10058400" cy="2011680"/>
          </a:xfrm>
          <a:prstGeom prst="rect">
            <a:avLst/>
          </a:prstGeom>
          <a:noFill/>
        </p:spPr>
        <p:txBody>
          <a:bodyPr wrap="none">
            <a:spAutoFit/>
          </a:bodyPr>
          <a:lstStyle/>
          <a:p>
            <a:pPr>
              <a:defRPr sz="4400" b="1">
                <a:solidFill>
                  <a:srgbClr val="FFFFFF"/>
                </a:solidFill>
              </a:defRPr>
            </a:pPr>
            <a:r>
              <a:t>Thank You — Questions?</a:t>
            </a:r>
          </a:p>
          <a:p>
            <a:pPr>
              <a:spcBef>
                <a:spcPts val="2000"/>
              </a:spcBef>
              <a:defRPr sz="2000">
                <a:solidFill>
                  <a:srgbClr val="BFDBFE"/>
                </a:solidFill>
              </a:defRPr>
            </a:pPr>
            <a:r>
              <a:t>Live system: myapplication-65e7d8b9.web.app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